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40"/>
    <p:restoredTop sz="94744"/>
  </p:normalViewPr>
  <p:slideViewPr>
    <p:cSldViewPr snapToGrid="0">
      <p:cViewPr varScale="1">
        <p:scale>
          <a:sx n="90" d="100"/>
          <a:sy n="90" d="100"/>
        </p:scale>
        <p:origin x="216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/>
              <a:t>Monthly Revenue 2019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Revenue</c:v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General</c:formatCode>
              <c:ptCount val="12"/>
              <c:pt idx="0">
                <c:v>1.82</c:v>
              </c:pt>
              <c:pt idx="1">
                <c:v>2.2000000000000002</c:v>
              </c:pt>
              <c:pt idx="2">
                <c:v>2.81</c:v>
              </c:pt>
              <c:pt idx="3">
                <c:v>3.39</c:v>
              </c:pt>
              <c:pt idx="4">
                <c:v>3.15</c:v>
              </c:pt>
              <c:pt idx="5">
                <c:v>2.58</c:v>
              </c:pt>
              <c:pt idx="6">
                <c:v>2.65</c:v>
              </c:pt>
              <c:pt idx="7">
                <c:v>2.2400000000000002</c:v>
              </c:pt>
              <c:pt idx="8">
                <c:v>2.1</c:v>
              </c:pt>
              <c:pt idx="9">
                <c:v>3.74</c:v>
              </c:pt>
              <c:pt idx="10">
                <c:v>3.2</c:v>
              </c:pt>
              <c:pt idx="11">
                <c:v>4.6100000000000003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316-9041-A25D-4545E71C4B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600"/>
              <a:t>Orders by Hour of Day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Orders</c:v>
          </c:tx>
          <c:spPr>
            <a:ln w="28575">
              <a:solidFill>
                <a:srgbClr val="2563EB"/>
              </a:solidFill>
            </a:ln>
          </c:spPr>
          <c:marker>
            <c:symbol val="circle"/>
            <c:size val="5"/>
            <c:spPr>
              <a:solidFill>
                <a:srgbClr val="2563EB"/>
              </a:solidFill>
            </c:spPr>
          </c:marker>
          <c:cat>
            <c:strLit>
              <c:ptCount val="24"/>
              <c:pt idx="0">
                <c:v>12am</c:v>
              </c:pt>
              <c:pt idx="1">
                <c:v>1am</c:v>
              </c:pt>
              <c:pt idx="2">
                <c:v>2am</c:v>
              </c:pt>
              <c:pt idx="3">
                <c:v>3am</c:v>
              </c:pt>
              <c:pt idx="4">
                <c:v>4am</c:v>
              </c:pt>
              <c:pt idx="5">
                <c:v>5am</c:v>
              </c:pt>
              <c:pt idx="6">
                <c:v>6am</c:v>
              </c:pt>
              <c:pt idx="7">
                <c:v>7am</c:v>
              </c:pt>
              <c:pt idx="8">
                <c:v>8am</c:v>
              </c:pt>
              <c:pt idx="9">
                <c:v>9am</c:v>
              </c:pt>
              <c:pt idx="10">
                <c:v>10am</c:v>
              </c:pt>
              <c:pt idx="11">
                <c:v>11am</c:v>
              </c:pt>
              <c:pt idx="12">
                <c:v>12pm</c:v>
              </c:pt>
              <c:pt idx="13">
                <c:v>1pm</c:v>
              </c:pt>
              <c:pt idx="14">
                <c:v>2pm</c:v>
              </c:pt>
              <c:pt idx="15">
                <c:v>3pm</c:v>
              </c:pt>
              <c:pt idx="16">
                <c:v>4pm</c:v>
              </c:pt>
              <c:pt idx="17">
                <c:v>5pm</c:v>
              </c:pt>
              <c:pt idx="18">
                <c:v>6pm</c:v>
              </c:pt>
              <c:pt idx="19">
                <c:v>7pm</c:v>
              </c:pt>
              <c:pt idx="20">
                <c:v>8pm</c:v>
              </c:pt>
              <c:pt idx="21">
                <c:v>9pm</c:v>
              </c:pt>
              <c:pt idx="22">
                <c:v>10pm</c:v>
              </c:pt>
              <c:pt idx="23">
                <c:v>11pm</c:v>
              </c:pt>
            </c:strLit>
          </c:cat>
          <c:val>
            <c:numLit>
              <c:formatCode>General</c:formatCode>
              <c:ptCount val="24"/>
              <c:pt idx="0">
                <c:v>3910</c:v>
              </c:pt>
              <c:pt idx="1">
                <c:v>2350</c:v>
              </c:pt>
              <c:pt idx="2">
                <c:v>1243</c:v>
              </c:pt>
              <c:pt idx="3">
                <c:v>831</c:v>
              </c:pt>
              <c:pt idx="4">
                <c:v>854</c:v>
              </c:pt>
              <c:pt idx="5">
                <c:v>1321</c:v>
              </c:pt>
              <c:pt idx="6">
                <c:v>2482</c:v>
              </c:pt>
              <c:pt idx="7">
                <c:v>4011</c:v>
              </c:pt>
              <c:pt idx="8">
                <c:v>6256</c:v>
              </c:pt>
              <c:pt idx="9">
                <c:v>8748</c:v>
              </c:pt>
              <c:pt idx="10">
                <c:v>10944</c:v>
              </c:pt>
              <c:pt idx="11">
                <c:v>12411</c:v>
              </c:pt>
              <c:pt idx="12">
                <c:v>12587</c:v>
              </c:pt>
              <c:pt idx="13">
                <c:v>12129</c:v>
              </c:pt>
              <c:pt idx="14">
                <c:v>10984</c:v>
              </c:pt>
              <c:pt idx="15">
                <c:v>10175</c:v>
              </c:pt>
              <c:pt idx="16">
                <c:v>10384</c:v>
              </c:pt>
              <c:pt idx="17">
                <c:v>10899</c:v>
              </c:pt>
              <c:pt idx="18">
                <c:v>12280</c:v>
              </c:pt>
              <c:pt idx="19">
                <c:v>12905</c:v>
              </c:pt>
              <c:pt idx="20">
                <c:v>12228</c:v>
              </c:pt>
              <c:pt idx="21">
                <c:v>10921</c:v>
              </c:pt>
              <c:pt idx="22">
                <c:v>8822</c:v>
              </c:pt>
              <c:pt idx="23">
                <c:v>6275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41FE-4044-9ADE-C6B997D64E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600"/>
              <a:t>Revenue by City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Revenue</c:v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0"/>
              <c:pt idx="0">
                <c:v>Portland, ME</c:v>
              </c:pt>
              <c:pt idx="1">
                <c:v>Austin, TX</c:v>
              </c:pt>
              <c:pt idx="2">
                <c:v>Portland, OR</c:v>
              </c:pt>
              <c:pt idx="3">
                <c:v>Seattle, WA</c:v>
              </c:pt>
              <c:pt idx="4">
                <c:v>Dallas, TX</c:v>
              </c:pt>
              <c:pt idx="5">
                <c:v>Atlanta, GA</c:v>
              </c:pt>
              <c:pt idx="6">
                <c:v>Boston, MA</c:v>
              </c:pt>
              <c:pt idx="7">
                <c:v>New York City, NY</c:v>
              </c:pt>
              <c:pt idx="8">
                <c:v>Los Angeles, CA</c:v>
              </c:pt>
              <c:pt idx="9">
                <c:v>San Francisco, CA</c:v>
              </c:pt>
            </c:strLit>
          </c:cat>
          <c:val>
            <c:numLit>
              <c:formatCode>General</c:formatCode>
              <c:ptCount val="10"/>
              <c:pt idx="0">
                <c:v>0.45</c:v>
              </c:pt>
              <c:pt idx="1">
                <c:v>1.82</c:v>
              </c:pt>
              <c:pt idx="2">
                <c:v>1.87</c:v>
              </c:pt>
              <c:pt idx="3">
                <c:v>2.75</c:v>
              </c:pt>
              <c:pt idx="4">
                <c:v>2.77</c:v>
              </c:pt>
              <c:pt idx="5">
                <c:v>2.8</c:v>
              </c:pt>
              <c:pt idx="6">
                <c:v>3.66</c:v>
              </c:pt>
              <c:pt idx="7">
                <c:v>4.66</c:v>
              </c:pt>
              <c:pt idx="8">
                <c:v>5.45</c:v>
              </c:pt>
              <c:pt idx="9">
                <c:v>8.26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AE4-3046-B431-3F4B845A8D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b"/>
        <c:majorGridlines>
          <c:spPr>
            <a:ln w="9525">
              <a:solidFill>
                <a:srgbClr val="C7D2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400"/>
              <a:t>Top Sellers by Units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Top Sellers by Units</c:v>
          </c:tx>
          <c:spPr>
            <a:solidFill>
              <a:srgbClr val="0EA5E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Wired Headphones</c:v>
              </c:pt>
              <c:pt idx="1">
                <c:v>Lightning Cable</c:v>
              </c:pt>
              <c:pt idx="2">
                <c:v>USB-C Cable</c:v>
              </c:pt>
              <c:pt idx="3">
                <c:v>AA Batteries</c:v>
              </c:pt>
              <c:pt idx="4">
                <c:v>AAA Batteries</c:v>
              </c:pt>
            </c:strLit>
          </c:cat>
          <c:val>
            <c:numLit>
              <c:formatCode>General</c:formatCode>
              <c:ptCount val="5"/>
              <c:pt idx="0">
                <c:v>20557</c:v>
              </c:pt>
              <c:pt idx="1">
                <c:v>23217</c:v>
              </c:pt>
              <c:pt idx="2">
                <c:v>23975</c:v>
              </c:pt>
              <c:pt idx="3">
                <c:v>27635</c:v>
              </c:pt>
              <c:pt idx="4">
                <c:v>31017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CCF-C948-9F6F-A2CDCF6C77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400"/>
              <a:t>Top Earners by Revenue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Top Earners by Revenue ($M)</c:v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27in 4K Monitor</c:v>
              </c:pt>
              <c:pt idx="1">
                <c:v>Google Phone</c:v>
              </c:pt>
              <c:pt idx="2">
                <c:v>ThinkPad Laptop</c:v>
              </c:pt>
              <c:pt idx="3">
                <c:v>iPhone</c:v>
              </c:pt>
              <c:pt idx="4">
                <c:v>MacBook Pro</c:v>
              </c:pt>
            </c:strLit>
          </c:cat>
          <c:val>
            <c:numLit>
              <c:formatCode>General</c:formatCode>
              <c:ptCount val="5"/>
              <c:pt idx="0">
                <c:v>2.44</c:v>
              </c:pt>
              <c:pt idx="1">
                <c:v>3.32</c:v>
              </c:pt>
              <c:pt idx="2">
                <c:v>4.13</c:v>
              </c:pt>
              <c:pt idx="3">
                <c:v>4.79</c:v>
              </c:pt>
              <c:pt idx="4">
                <c:v>8.0399999999999991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51F-614B-95A9-39ADA48F05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1FE4D-52C2-C629-935A-3267B5FC8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0EFA6-07D3-A3CB-23B7-8B97EC39F6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3D14B-52E1-473E-15C9-7AF4AD8B6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90FD-0446-8849-9068-E2A302ABCD23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7C2A5-FC6A-AE5E-C9AB-5BB09F092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39AFC-3BCC-1009-A654-9D67B31F6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FD59-1145-954B-9F90-47A026F49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673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B0FAA-F83E-3391-D233-437262C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C49E1-24EF-5C8F-B55E-69034A184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8E803-C27F-BF23-D9ED-086285A3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90FD-0446-8849-9068-E2A302ABCD23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B3323-940B-1C06-4D67-59F890E33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04DF9-B265-80DD-0F34-64DA15AAF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FD59-1145-954B-9F90-47A026F49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29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37F9C-FCC0-3913-E7B0-2EB80F061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0074C-E06A-E836-0C99-2C0FA7D8C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A7F71-182D-A319-3728-1159B00CF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90FD-0446-8849-9068-E2A302ABCD23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8B89D-333C-3903-AD62-613BD3A84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6F46C-98EA-C6DF-06EE-227E4A554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FD59-1145-954B-9F90-47A026F49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43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BDE-20AD-D446-0E6B-65AC3D815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12E83-1C13-ABF1-4522-0F93DEE96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151AE7-0C1E-675C-0115-93D02A9CE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7A80B-4DF3-7204-5192-B5399E702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90FD-0446-8849-9068-E2A302ABCD23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D7F70-7F0D-DAF7-EEC8-360C68506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4A8D1-B174-E93A-8B89-A484D79CD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FD59-1145-954B-9F90-47A026F49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589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9642F-96C0-EC38-8E09-4CB7C2F3E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2237B-FA87-9E30-C604-8AC54A0A5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85AF5-2C16-DA83-6B79-D62A4982E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87894-A54D-E729-3493-1D3FD41897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3E71FD-5256-CAF0-CFD2-EF1B64C26E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830E9-6FAF-424A-66C8-C08AF0FA9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90FD-0446-8849-9068-E2A302ABCD23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EA454F-AA52-9DF1-70B7-E8C175C6C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F82974-94C4-A6BF-6242-4E140EA9C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FD59-1145-954B-9F90-47A026F49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119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DAA1A-5F6B-7A9D-722E-74A10DB26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4AD184-F5A6-D1E9-947F-823810AE3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90FD-0446-8849-9068-E2A302ABCD23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D29A64-67AC-B905-1613-ABA200DC1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3289B-5BB5-BBCD-5F22-41CE3C82B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FD59-1145-954B-9F90-47A026F49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15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8538B0-5D29-A6EE-E199-ACB5FEDBC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90FD-0446-8849-9068-E2A302ABCD23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B1E2A4-2937-7D2E-929A-1AD6AB76D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712E7-F5C1-192E-4513-B568E42BF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FD59-1145-954B-9F90-47A026F49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61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8CEF6-D0E4-C865-83BD-7CC7B9EBC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89596-DECB-23C0-5969-9E4BFC20A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888383-5B7E-278B-E923-2CBDE7C92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51EC3-0DF3-472A-FFC9-545BD938A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90FD-0446-8849-9068-E2A302ABCD23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A2B3B-3F34-E920-A1B2-FA773AC3B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30316-BA94-F55F-74F3-2003F06B1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FD59-1145-954B-9F90-47A026F49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44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40994-9A97-7512-0B04-EEA909395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DB6AC6-3832-13CC-7DF4-2D783E4E5C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EAF75-DFCC-1F5E-E627-9CCAE3C56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95E8D-81EF-E999-4C34-21A5DDEFF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90FD-0446-8849-9068-E2A302ABCD23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0AE96-100F-DA23-FCBD-30B45B4C4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35A3A-C584-606F-F0B5-216FC70C7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FD59-1145-954B-9F90-47A026F49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85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4D16-6F6E-D5CE-C11D-376F0D129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A303FE-007B-ABFE-38E6-4DC3CFE71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11244-475D-5B7E-644D-BBF94AE72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90FD-0446-8849-9068-E2A302ABCD23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B9926-3F9A-C156-421A-4B4983035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54F42-D7BD-8453-BE9B-1AD130BD8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FD59-1145-954B-9F90-47A026F49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053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DAA094-E83C-3930-1839-71355DE4C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AF3341-6449-A7B9-28B2-B186A0578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3F529-4FA1-6D3D-D052-A33ACC713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90FD-0446-8849-9068-E2A302ABCD23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C10A8-2540-7102-6DD2-635F0068F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4637F-EC2D-14B4-2F06-367A2410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FD59-1145-954B-9F90-47A026F49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15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845697-4409-41F4-6A83-7C596E44C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51DD5-163E-A620-5D6C-DA2CA1A26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23E21-C690-19E9-3A27-40BEDC82AF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090FD-0446-8849-9068-E2A302ABCD23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ED04E-4232-2698-609E-60B5B3D97B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2E061-9B6C-392C-8524-ED108CE2A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5FD59-1145-954B-9F90-47A026F496FD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/>
        </p:nvSpPr>
        <p:spPr>
          <a:xfrm>
            <a:off x="0" y="6629400"/>
            <a:ext cx="9144000" cy="4572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1954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243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D4A5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7ACEA-8D32-787C-3529-39A8308612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Sales Analytics: Insights from 178,000 Orders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262459-004A-1EC7-697E-EB23094126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Electronics Sales — 2019</a:t>
            </a:r>
          </a:p>
        </p:txBody>
      </p:sp>
    </p:spTree>
    <p:extLst>
      <p:ext uri="{BB962C8B-B14F-4D97-AF65-F5344CB8AC3E}">
        <p14:creationId xmlns:p14="http://schemas.microsoft.com/office/powerpoint/2010/main" val="3406761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661A4-1E24-1FA0-6CBD-F76E959BC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Big Picture</a:t>
            </a:r>
          </a:p>
        </p:txBody>
      </p:sp>
      <p:sp>
        <p:nvSpPr>
          <p:cNvPr id="3" name="KPI_0">
            <a:extLst>
              <a:ext uri="{FF2B5EF4-FFF2-40B4-BE49-F238E27FC236}">
                <a16:creationId xmlns:a16="http://schemas.microsoft.com/office/drawing/2014/main" id="{AC2A10DB-1AAF-D747-B6DF-40ACDB29AABF}"/>
              </a:ext>
            </a:extLst>
          </p:cNvPr>
          <p:cNvSpPr/>
          <p:nvPr/>
        </p:nvSpPr>
        <p:spPr>
          <a:xfrm>
            <a:off x="609600" y="2413000"/>
            <a:ext cx="2590800" cy="2413000"/>
          </a:xfrm>
          <a:prstGeom prst="roundRect">
            <a:avLst/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ctr">
              <a:buNone/>
            </a:pPr>
            <a:r>
              <a:rPr lang="en-US" sz="3600" b="1" dirty="0">
                <a:solidFill>
                  <a:srgbClr val="2563EB"/>
                </a:solidFill>
              </a:rPr>
              <a:t>$34.5M</a:t>
            </a:r>
          </a:p>
          <a:p>
            <a:pPr algn="ctr">
              <a:buNone/>
            </a:pPr>
            <a:r>
              <a:rPr lang="en-US" sz="1600" dirty="0">
                <a:solidFill>
                  <a:srgbClr val="3D4A5C"/>
                </a:solidFill>
              </a:rPr>
              <a:t>Total Revenue</a:t>
            </a:r>
          </a:p>
        </p:txBody>
      </p:sp>
      <p:sp>
        <p:nvSpPr>
          <p:cNvPr id="4" name="KPI_1">
            <a:extLst>
              <a:ext uri="{FF2B5EF4-FFF2-40B4-BE49-F238E27FC236}">
                <a16:creationId xmlns:a16="http://schemas.microsoft.com/office/drawing/2014/main" id="{AF82EA26-D161-FE49-93F4-E9B3010D31E4}"/>
              </a:ext>
            </a:extLst>
          </p:cNvPr>
          <p:cNvSpPr/>
          <p:nvPr/>
        </p:nvSpPr>
        <p:spPr>
          <a:xfrm>
            <a:off x="3403600" y="2413000"/>
            <a:ext cx="2590800" cy="2413000"/>
          </a:xfrm>
          <a:prstGeom prst="roundRect">
            <a:avLst/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ctr">
              <a:buNone/>
            </a:pPr>
            <a:r>
              <a:rPr lang="en-US" sz="3600" b="1" dirty="0">
                <a:solidFill>
                  <a:srgbClr val="2563EB"/>
                </a:solidFill>
              </a:rPr>
              <a:t>178,437</a:t>
            </a:r>
          </a:p>
          <a:p>
            <a:pPr algn="ctr">
              <a:buNone/>
            </a:pPr>
            <a:r>
              <a:rPr lang="en-US" sz="1600" dirty="0">
                <a:solidFill>
                  <a:srgbClr val="3D4A5C"/>
                </a:solidFill>
              </a:rPr>
              <a:t>Orders Placed</a:t>
            </a:r>
          </a:p>
        </p:txBody>
      </p:sp>
      <p:sp>
        <p:nvSpPr>
          <p:cNvPr id="5" name="KPI_2">
            <a:extLst>
              <a:ext uri="{FF2B5EF4-FFF2-40B4-BE49-F238E27FC236}">
                <a16:creationId xmlns:a16="http://schemas.microsoft.com/office/drawing/2014/main" id="{FD403B51-2967-FD4A-B292-74B75D97027B}"/>
              </a:ext>
            </a:extLst>
          </p:cNvPr>
          <p:cNvSpPr/>
          <p:nvPr/>
        </p:nvSpPr>
        <p:spPr>
          <a:xfrm>
            <a:off x="6197600" y="2413000"/>
            <a:ext cx="2590800" cy="2413000"/>
          </a:xfrm>
          <a:prstGeom prst="roundRect">
            <a:avLst/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ctr">
              <a:buNone/>
            </a:pPr>
            <a:r>
              <a:rPr lang="en-US" sz="3600" b="1" dirty="0">
                <a:solidFill>
                  <a:srgbClr val="2563EB"/>
                </a:solidFill>
              </a:rPr>
              <a:t>10</a:t>
            </a:r>
          </a:p>
          <a:p>
            <a:pPr algn="ctr">
              <a:buNone/>
            </a:pPr>
            <a:r>
              <a:rPr lang="en-US" sz="1600" dirty="0">
                <a:solidFill>
                  <a:srgbClr val="3D4A5C"/>
                </a:solidFill>
              </a:rPr>
              <a:t>Cities Served</a:t>
            </a:r>
          </a:p>
        </p:txBody>
      </p:sp>
      <p:sp>
        <p:nvSpPr>
          <p:cNvPr id="6" name="KPI_3">
            <a:extLst>
              <a:ext uri="{FF2B5EF4-FFF2-40B4-BE49-F238E27FC236}">
                <a16:creationId xmlns:a16="http://schemas.microsoft.com/office/drawing/2014/main" id="{24139801-2B43-4246-AC8F-13B8304B620E}"/>
              </a:ext>
            </a:extLst>
          </p:cNvPr>
          <p:cNvSpPr/>
          <p:nvPr/>
        </p:nvSpPr>
        <p:spPr>
          <a:xfrm>
            <a:off x="8991600" y="2413000"/>
            <a:ext cx="2590800" cy="2413000"/>
          </a:xfrm>
          <a:prstGeom prst="roundRect">
            <a:avLst/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ctr">
              <a:buNone/>
            </a:pPr>
            <a:r>
              <a:rPr lang="en-US" sz="3600" b="1" dirty="0">
                <a:solidFill>
                  <a:srgbClr val="2563EB"/>
                </a:solidFill>
              </a:rPr>
              <a:t>19</a:t>
            </a:r>
          </a:p>
          <a:p>
            <a:pPr algn="ctr">
              <a:buNone/>
            </a:pPr>
            <a:r>
              <a:rPr lang="en-US" sz="1600" dirty="0">
                <a:solidFill>
                  <a:srgbClr val="3D4A5C"/>
                </a:solidFill>
              </a:rPr>
              <a:t>Products Sold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23C5F7-9F04-2045-B85D-CAFFAE6C8ED8}"/>
              </a:ext>
            </a:extLst>
          </p:cNvPr>
          <p:cNvSpPr txBox="1"/>
          <p:nvPr/>
        </p:nvSpPr>
        <p:spPr>
          <a:xfrm>
            <a:off x="609600" y="5334000"/>
            <a:ext cx="10972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3D4A5C"/>
                </a:solidFill>
              </a:rPr>
              <a:t>Every row is a real transaction — from batteries to MacBooks — logged across 10 U.S. cities throughout 2019.</a:t>
            </a:r>
          </a:p>
        </p:txBody>
      </p:sp>
    </p:spTree>
    <p:extLst>
      <p:ext uri="{BB962C8B-B14F-4D97-AF65-F5344CB8AC3E}">
        <p14:creationId xmlns:p14="http://schemas.microsoft.com/office/powerpoint/2010/main" val="1161196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DC7D0-CAEB-1018-613E-D7D54F96A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December Is King</a:t>
            </a:r>
          </a:p>
        </p:txBody>
      </p:sp>
      <p:graphicFrame>
        <p:nvGraphicFramePr>
          <p:cNvPr id="102" name="Chart 2"/>
          <p:cNvGraphicFramePr/>
          <p:nvPr/>
        </p:nvGraphicFramePr>
        <p:xfrm>
          <a:off x="609600" y="1752600"/>
          <a:ext cx="6858000" cy="396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AB6A735-A6AC-3346-BC0A-64D19DAC9092}"/>
              </a:ext>
            </a:extLst>
          </p:cNvPr>
          <p:cNvSpPr/>
          <p:nvPr/>
        </p:nvSpPr>
        <p:spPr>
          <a:xfrm>
            <a:off x="8001000" y="1905000"/>
            <a:ext cx="3581400" cy="3429000"/>
          </a:xfrm>
          <a:prstGeom prst="roundRect">
            <a:avLst/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>
                <a:solidFill>
                  <a:srgbClr val="1A2433"/>
                </a:solidFill>
              </a:rPr>
              <a:t>Revenue climbs steadily through the year and nearly triples from January to December — with a clear holiday-season surge.</a:t>
            </a:r>
          </a:p>
        </p:txBody>
      </p:sp>
    </p:spTree>
    <p:extLst>
      <p:ext uri="{BB962C8B-B14F-4D97-AF65-F5344CB8AC3E}">
        <p14:creationId xmlns:p14="http://schemas.microsoft.com/office/powerpoint/2010/main" val="2828783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33EAD-8DEE-92D7-D0CB-6EB81C790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Best Time to Advertise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609600" y="1905000"/>
          <a:ext cx="7874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InsightBox">
            <a:extLst>
              <a:ext uri="{FF2B5EF4-FFF2-40B4-BE49-F238E27FC236}">
                <a16:creationId xmlns:a16="http://schemas.microsoft.com/office/drawing/2014/main" id="{62129C96-6DD3-E64A-A928-90D91ACA53B1}"/>
              </a:ext>
            </a:extLst>
          </p:cNvPr>
          <p:cNvSpPr txBox="1"/>
          <p:nvPr/>
        </p:nvSpPr>
        <p:spPr>
          <a:xfrm>
            <a:off x="8890000" y="2159000"/>
            <a:ext cx="2794000" cy="144655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2563EB"/>
                </a:solidFill>
              </a:rPr>
              <a:t>Two daily peaks</a:t>
            </a:r>
          </a:p>
          <a:p>
            <a:pPr>
              <a:buNone/>
            </a:pPr>
            <a:r>
              <a:rPr lang="en-US" sz="1400" dirty="0">
                <a:solidFill>
                  <a:srgbClr val="1A2433"/>
                </a:solidFill>
              </a:rPr>
              <a:t>Shoppers order most around </a:t>
            </a:r>
            <a:r>
              <a:rPr lang="en-US" sz="1400" b="1" dirty="0">
                <a:solidFill>
                  <a:srgbClr val="1A2433"/>
                </a:solidFill>
              </a:rPr>
              <a:t>11am-12pm</a:t>
            </a:r>
            <a:r>
              <a:rPr lang="en-US" sz="1400" dirty="0">
                <a:solidFill>
                  <a:srgbClr val="1A2433"/>
                </a:solidFill>
              </a:rPr>
              <a:t> and again at </a:t>
            </a:r>
            <a:r>
              <a:rPr lang="en-US" sz="1400" b="1" dirty="0">
                <a:solidFill>
                  <a:srgbClr val="1A2433"/>
                </a:solidFill>
              </a:rPr>
              <a:t>7pm</a:t>
            </a:r>
            <a:r>
              <a:rPr lang="en-US" sz="1400" dirty="0">
                <a:solidFill>
                  <a:srgbClr val="1A2433"/>
                </a:solidFill>
              </a:rPr>
              <a:t>.</a:t>
            </a:r>
          </a:p>
          <a:p>
            <a:pPr>
              <a:buNone/>
            </a:pPr>
            <a:r>
              <a:rPr lang="en-US" sz="1400" i="1" dirty="0">
                <a:solidFill>
                  <a:srgbClr val="3D4A5C"/>
                </a:solidFill>
              </a:rPr>
              <a:t>That’s lunch breaks and post-dinner browsing — the prime windows to run ads.</a:t>
            </a:r>
          </a:p>
        </p:txBody>
      </p:sp>
    </p:spTree>
    <p:extLst>
      <p:ext uri="{BB962C8B-B14F-4D97-AF65-F5344CB8AC3E}">
        <p14:creationId xmlns:p14="http://schemas.microsoft.com/office/powerpoint/2010/main" val="3649512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E6B2E-8FCE-7B40-D8B4-C89D6B3B5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the Money Is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609600" y="1841500"/>
          <a:ext cx="8890000" cy="4635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82972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9BEAA-984D-F538-B73E-FB4CB7272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Sells: Volume vs. Value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457200" y="1854200"/>
          <a:ext cx="3962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2" name="Chart 2"/>
          <p:cNvGraphicFramePr/>
          <p:nvPr/>
        </p:nvGraphicFramePr>
        <p:xfrm>
          <a:off x="4724400" y="1854200"/>
          <a:ext cx="3962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akeawayBox">
            <a:extLst>
              <a:ext uri="{FF2B5EF4-FFF2-40B4-BE49-F238E27FC236}">
                <a16:creationId xmlns:a16="http://schemas.microsoft.com/office/drawing/2014/main" id="{751E266C-39F9-9C4C-835F-C7AF49EC1C61}"/>
              </a:ext>
            </a:extLst>
          </p:cNvPr>
          <p:cNvSpPr txBox="1"/>
          <p:nvPr/>
        </p:nvSpPr>
        <p:spPr>
          <a:xfrm>
            <a:off x="609600" y="5842000"/>
            <a:ext cx="109728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500" i="1" dirty="0">
                <a:solidFill>
                  <a:srgbClr val="3D4A5C"/>
                </a:solidFill>
              </a:rPr>
              <a:t>Cheap accessories move the most units — but laptops and phones move the most money.</a:t>
            </a:r>
          </a:p>
        </p:txBody>
      </p:sp>
    </p:spTree>
    <p:extLst>
      <p:ext uri="{BB962C8B-B14F-4D97-AF65-F5344CB8AC3E}">
        <p14:creationId xmlns:p14="http://schemas.microsoft.com/office/powerpoint/2010/main" val="164429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E772F-8653-8EAA-E531-F5AFC05C0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Gets Bought Together</a:t>
            </a:r>
          </a:p>
        </p:txBody>
      </p:sp>
      <p:sp>
        <p:nvSpPr>
          <p:cNvPr id="3" name="Intro">
            <a:extLst>
              <a:ext uri="{FF2B5EF4-FFF2-40B4-BE49-F238E27FC236}">
                <a16:creationId xmlns:a16="http://schemas.microsoft.com/office/drawing/2014/main" id="{9ED40CDB-32E9-CF44-BE13-EFBF21F9C08D}"/>
              </a:ext>
            </a:extLst>
          </p:cNvPr>
          <p:cNvSpPr txBox="1"/>
          <p:nvPr/>
        </p:nvSpPr>
        <p:spPr>
          <a:xfrm>
            <a:off x="838200" y="1841500"/>
            <a:ext cx="1051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600" dirty="0">
                <a:solidFill>
                  <a:srgbClr val="3D4A5C"/>
                </a:solidFill>
              </a:rPr>
              <a:t>When customers buy a phone, they almost always grab the charging cable too.</a:t>
            </a:r>
          </a:p>
        </p:txBody>
      </p:sp>
      <p:sp>
        <p:nvSpPr>
          <p:cNvPr id="4" name="PairCard0">
            <a:extLst>
              <a:ext uri="{FF2B5EF4-FFF2-40B4-BE49-F238E27FC236}">
                <a16:creationId xmlns:a16="http://schemas.microsoft.com/office/drawing/2014/main" id="{DBDC394F-AD43-574C-B232-DBC9AE512D6A}"/>
              </a:ext>
            </a:extLst>
          </p:cNvPr>
          <p:cNvSpPr/>
          <p:nvPr/>
        </p:nvSpPr>
        <p:spPr>
          <a:xfrm>
            <a:off x="698500" y="2603500"/>
            <a:ext cx="3429000" cy="3429000"/>
          </a:xfrm>
          <a:prstGeom prst="roundRect">
            <a:avLst/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>
              <a:buNone/>
            </a:pPr>
            <a:r>
              <a:rPr lang="en-US" sz="1500" b="1" dirty="0">
                <a:solidFill>
                  <a:srgbClr val="1A2433"/>
                </a:solidFill>
              </a:rPr>
              <a:t>iPhone</a:t>
            </a:r>
          </a:p>
          <a:p>
            <a:pPr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+</a:t>
            </a:r>
          </a:p>
          <a:p>
            <a:pPr algn="ctr">
              <a:buNone/>
            </a:pPr>
            <a:r>
              <a:rPr lang="en-US" sz="1500" b="1" dirty="0">
                <a:solidFill>
                  <a:srgbClr val="1A2433"/>
                </a:solidFill>
              </a:rPr>
              <a:t>Lightning Cable</a:t>
            </a:r>
          </a:p>
          <a:p>
            <a:pPr algn="ctr">
              <a:buNone/>
            </a:pPr>
            <a:r>
              <a:rPr lang="en-US" sz="2000" b="1" dirty="0">
                <a:solidFill>
                  <a:srgbClr val="0EA5E9"/>
                </a:solidFill>
              </a:rPr>
              <a:t>1,011</a:t>
            </a:r>
          </a:p>
          <a:p>
            <a:pPr algn="ctr">
              <a:buNone/>
            </a:pPr>
            <a:r>
              <a:rPr lang="en-US" sz="1300" dirty="0">
                <a:solidFill>
                  <a:srgbClr val="3D4A5C"/>
                </a:solidFill>
              </a:rPr>
              <a:t>orders together</a:t>
            </a:r>
          </a:p>
        </p:txBody>
      </p:sp>
      <p:sp>
        <p:nvSpPr>
          <p:cNvPr id="5" name="PairCard1">
            <a:extLst>
              <a:ext uri="{FF2B5EF4-FFF2-40B4-BE49-F238E27FC236}">
                <a16:creationId xmlns:a16="http://schemas.microsoft.com/office/drawing/2014/main" id="{D0D16FAF-E17F-7040-A410-6EDF746C3594}"/>
              </a:ext>
            </a:extLst>
          </p:cNvPr>
          <p:cNvSpPr/>
          <p:nvPr/>
        </p:nvSpPr>
        <p:spPr>
          <a:xfrm>
            <a:off x="4394200" y="2603500"/>
            <a:ext cx="3429000" cy="3429000"/>
          </a:xfrm>
          <a:prstGeom prst="roundRect">
            <a:avLst/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>
              <a:buNone/>
            </a:pPr>
            <a:r>
              <a:rPr lang="en-US" sz="1500" b="1" dirty="0">
                <a:solidFill>
                  <a:srgbClr val="1A2433"/>
                </a:solidFill>
              </a:rPr>
              <a:t>Google Phone</a:t>
            </a:r>
          </a:p>
          <a:p>
            <a:pPr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+</a:t>
            </a:r>
          </a:p>
          <a:p>
            <a:pPr algn="ctr">
              <a:buNone/>
            </a:pPr>
            <a:r>
              <a:rPr lang="en-US" sz="1500" b="1" dirty="0">
                <a:solidFill>
                  <a:srgbClr val="1A2433"/>
                </a:solidFill>
              </a:rPr>
              <a:t>USB-C Cable</a:t>
            </a:r>
          </a:p>
          <a:p>
            <a:pPr algn="ctr">
              <a:buNone/>
            </a:pPr>
            <a:r>
              <a:rPr lang="en-US" sz="2000" b="1" dirty="0">
                <a:solidFill>
                  <a:srgbClr val="0EA5E9"/>
                </a:solidFill>
              </a:rPr>
              <a:t>997</a:t>
            </a:r>
          </a:p>
          <a:p>
            <a:pPr algn="ctr">
              <a:buNone/>
            </a:pPr>
            <a:r>
              <a:rPr lang="en-US" sz="1300" dirty="0">
                <a:solidFill>
                  <a:srgbClr val="3D4A5C"/>
                </a:solidFill>
              </a:rPr>
              <a:t>orders together</a:t>
            </a:r>
          </a:p>
        </p:txBody>
      </p:sp>
      <p:sp>
        <p:nvSpPr>
          <p:cNvPr id="6" name="PairCard2">
            <a:extLst>
              <a:ext uri="{FF2B5EF4-FFF2-40B4-BE49-F238E27FC236}">
                <a16:creationId xmlns:a16="http://schemas.microsoft.com/office/drawing/2014/main" id="{EAFF0BB4-BC9F-C443-BB14-EAE7184F3E0A}"/>
              </a:ext>
            </a:extLst>
          </p:cNvPr>
          <p:cNvSpPr/>
          <p:nvPr/>
        </p:nvSpPr>
        <p:spPr>
          <a:xfrm>
            <a:off x="8089900" y="2603500"/>
            <a:ext cx="3429000" cy="3429000"/>
          </a:xfrm>
          <a:prstGeom prst="roundRect">
            <a:avLst/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>
              <a:buNone/>
            </a:pPr>
            <a:r>
              <a:rPr lang="en-US" sz="1500" b="1" dirty="0">
                <a:solidFill>
                  <a:srgbClr val="1A2433"/>
                </a:solidFill>
              </a:rPr>
              <a:t>iPhone</a:t>
            </a:r>
          </a:p>
          <a:p>
            <a:pPr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+</a:t>
            </a:r>
          </a:p>
          <a:p>
            <a:pPr algn="ctr">
              <a:buNone/>
            </a:pPr>
            <a:r>
              <a:rPr lang="en-US" sz="1500" b="1" dirty="0">
                <a:solidFill>
                  <a:srgbClr val="1A2433"/>
                </a:solidFill>
              </a:rPr>
              <a:t>Wired Headphones</a:t>
            </a:r>
          </a:p>
          <a:p>
            <a:pPr algn="ctr">
              <a:buNone/>
            </a:pPr>
            <a:r>
              <a:rPr lang="en-US" sz="2000" b="1" dirty="0">
                <a:solidFill>
                  <a:srgbClr val="0EA5E9"/>
                </a:solidFill>
              </a:rPr>
              <a:t>462</a:t>
            </a:r>
          </a:p>
          <a:p>
            <a:pPr algn="ctr">
              <a:buNone/>
            </a:pPr>
            <a:r>
              <a:rPr lang="en-US" sz="1300" dirty="0">
                <a:solidFill>
                  <a:srgbClr val="3D4A5C"/>
                </a:solidFill>
              </a:rPr>
              <a:t>orders together</a:t>
            </a:r>
          </a:p>
        </p:txBody>
      </p:sp>
      <p:sp>
        <p:nvSpPr>
          <p:cNvPr id="7" name="BundleTakeaway">
            <a:extLst>
              <a:ext uri="{FF2B5EF4-FFF2-40B4-BE49-F238E27FC236}">
                <a16:creationId xmlns:a16="http://schemas.microsoft.com/office/drawing/2014/main" id="{8045A10A-9774-9F4A-9D62-AC27AC7408F6}"/>
              </a:ext>
            </a:extLst>
          </p:cNvPr>
          <p:cNvSpPr txBox="1"/>
          <p:nvPr/>
        </p:nvSpPr>
        <p:spPr>
          <a:xfrm>
            <a:off x="838200" y="6159500"/>
            <a:ext cx="105156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400" i="1" dirty="0">
                <a:solidFill>
                  <a:srgbClr val="3D4A5C"/>
                </a:solidFill>
              </a:rPr>
              <a:t>A simple checkout bundle — phone + cable — could turn a habit into a guaranteed upsell.</a:t>
            </a:r>
          </a:p>
        </p:txBody>
      </p:sp>
    </p:spTree>
    <p:extLst>
      <p:ext uri="{BB962C8B-B14F-4D97-AF65-F5344CB8AC3E}">
        <p14:creationId xmlns:p14="http://schemas.microsoft.com/office/powerpoint/2010/main" val="3324147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7E462-E82D-C729-2B1B-94B016850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This Means for the Business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CA55E944-7DB1-D39D-190D-F3D10B499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akeCard0">
            <a:extLst>
              <a:ext uri="{FF2B5EF4-FFF2-40B4-BE49-F238E27FC236}">
                <a16:creationId xmlns:a16="http://schemas.microsoft.com/office/drawing/2014/main" id="{80767DC9-F045-FF4F-8A86-B45E88593DB0}"/>
              </a:ext>
            </a:extLst>
          </p:cNvPr>
          <p:cNvSpPr/>
          <p:nvPr/>
        </p:nvSpPr>
        <p:spPr>
          <a:xfrm>
            <a:off x="762000" y="1905000"/>
            <a:ext cx="5207000" cy="1905000"/>
          </a:xfrm>
          <a:prstGeom prst="roundRect">
            <a:avLst/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rgbClr val="1A2433"/>
              </a:solidFill>
            </a:endParaRPr>
          </a:p>
        </p:txBody>
      </p:sp>
      <p:sp>
        <p:nvSpPr>
          <p:cNvPr id="5" name="TakeCard1">
            <a:extLst>
              <a:ext uri="{FF2B5EF4-FFF2-40B4-BE49-F238E27FC236}">
                <a16:creationId xmlns:a16="http://schemas.microsoft.com/office/drawing/2014/main" id="{E3B53573-34EF-A443-8E81-58EFB5BD0836}"/>
              </a:ext>
            </a:extLst>
          </p:cNvPr>
          <p:cNvSpPr/>
          <p:nvPr/>
        </p:nvSpPr>
        <p:spPr>
          <a:xfrm>
            <a:off x="6223000" y="1905000"/>
            <a:ext cx="5207000" cy="1905000"/>
          </a:xfrm>
          <a:prstGeom prst="roundRect">
            <a:avLst/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rgbClr val="1A2433"/>
              </a:solidFill>
            </a:endParaRPr>
          </a:p>
        </p:txBody>
      </p:sp>
      <p:sp>
        <p:nvSpPr>
          <p:cNvPr id="6" name="TakeCard2">
            <a:extLst>
              <a:ext uri="{FF2B5EF4-FFF2-40B4-BE49-F238E27FC236}">
                <a16:creationId xmlns:a16="http://schemas.microsoft.com/office/drawing/2014/main" id="{4A5A5C7A-D2B0-8B45-AADF-D683CCAF8D4F}"/>
              </a:ext>
            </a:extLst>
          </p:cNvPr>
          <p:cNvSpPr/>
          <p:nvPr/>
        </p:nvSpPr>
        <p:spPr>
          <a:xfrm>
            <a:off x="762000" y="4064000"/>
            <a:ext cx="5207000" cy="1905000"/>
          </a:xfrm>
          <a:prstGeom prst="roundRect">
            <a:avLst/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rgbClr val="1A2433"/>
              </a:solidFill>
            </a:endParaRPr>
          </a:p>
        </p:txBody>
      </p:sp>
      <p:sp>
        <p:nvSpPr>
          <p:cNvPr id="7" name="TakeCard3">
            <a:extLst>
              <a:ext uri="{FF2B5EF4-FFF2-40B4-BE49-F238E27FC236}">
                <a16:creationId xmlns:a16="http://schemas.microsoft.com/office/drawing/2014/main" id="{FC9FA109-8915-0C4C-AA94-D7E0F2BCE042}"/>
              </a:ext>
            </a:extLst>
          </p:cNvPr>
          <p:cNvSpPr/>
          <p:nvPr/>
        </p:nvSpPr>
        <p:spPr>
          <a:xfrm>
            <a:off x="6223000" y="4064000"/>
            <a:ext cx="5207000" cy="1905000"/>
          </a:xfrm>
          <a:prstGeom prst="roundRect">
            <a:avLst/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rgbClr val="1A2433"/>
              </a:solidFill>
            </a:endParaRPr>
          </a:p>
        </p:txBody>
      </p:sp>
      <p:pic>
        <p:nvPicPr>
          <p:cNvPr id="8" name="Graphic 8" descr="Calendar - seasonality takeawa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133600"/>
            <a:ext cx="406400" cy="406400"/>
          </a:xfrm>
          <a:prstGeom prst="rect">
            <a:avLst/>
          </a:prstGeom>
        </p:spPr>
      </p:pic>
      <p:pic>
        <p:nvPicPr>
          <p:cNvPr id="9" name="Graphic 9" descr="Clock - timing takeawa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7000" y="2133600"/>
            <a:ext cx="406400" cy="406400"/>
          </a:xfrm>
          <a:prstGeom prst="rect">
            <a:avLst/>
          </a:prstGeom>
        </p:spPr>
      </p:pic>
      <p:pic>
        <p:nvPicPr>
          <p:cNvPr id="10" name="Graphic 10" descr="Location pin - geography takeawa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292600"/>
            <a:ext cx="406400" cy="406400"/>
          </a:xfrm>
          <a:prstGeom prst="rect">
            <a:avLst/>
          </a:prstGeom>
        </p:spPr>
      </p:pic>
      <p:pic>
        <p:nvPicPr>
          <p:cNvPr id="11" name="Graphic 11" descr="Link - bundling takeawa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4292600"/>
            <a:ext cx="406400" cy="406400"/>
          </a:xfrm>
          <a:prstGeom prst="rect">
            <a:avLst/>
          </a:prstGeom>
        </p:spPr>
      </p:pic>
      <p:sp>
        <p:nvSpPr>
          <p:cNvPr id="3" name="Head0">
            <a:extLst>
              <a:ext uri="{FF2B5EF4-FFF2-40B4-BE49-F238E27FC236}">
                <a16:creationId xmlns:a16="http://schemas.microsoft.com/office/drawing/2014/main" id="{78A10B1C-0A35-FD4C-BB4B-739FCB8B8C48}"/>
              </a:ext>
            </a:extLst>
          </p:cNvPr>
          <p:cNvSpPr txBox="1"/>
          <p:nvPr/>
        </p:nvSpPr>
        <p:spPr>
          <a:xfrm>
            <a:off x="1549400" y="2095500"/>
            <a:ext cx="4191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A2433"/>
                </a:solidFill>
              </a:rPr>
              <a:t>Double Down on Q4</a:t>
            </a:r>
          </a:p>
        </p:txBody>
      </p:sp>
      <p:sp>
        <p:nvSpPr>
          <p:cNvPr id="12" name="Head1">
            <a:extLst>
              <a:ext uri="{FF2B5EF4-FFF2-40B4-BE49-F238E27FC236}">
                <a16:creationId xmlns:a16="http://schemas.microsoft.com/office/drawing/2014/main" id="{C14C9040-75A6-F04F-9474-57C1B3347D71}"/>
              </a:ext>
            </a:extLst>
          </p:cNvPr>
          <p:cNvSpPr txBox="1"/>
          <p:nvPr/>
        </p:nvSpPr>
        <p:spPr>
          <a:xfrm>
            <a:off x="7010400" y="2095500"/>
            <a:ext cx="4191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A2433"/>
                </a:solidFill>
              </a:rPr>
              <a:t>Advertise at Lunch &amp; Dusk</a:t>
            </a:r>
          </a:p>
        </p:txBody>
      </p:sp>
      <p:sp>
        <p:nvSpPr>
          <p:cNvPr id="13" name="Head2">
            <a:extLst>
              <a:ext uri="{FF2B5EF4-FFF2-40B4-BE49-F238E27FC236}">
                <a16:creationId xmlns:a16="http://schemas.microsoft.com/office/drawing/2014/main" id="{3E02B914-86DC-5847-A458-50C166EF01A3}"/>
              </a:ext>
            </a:extLst>
          </p:cNvPr>
          <p:cNvSpPr txBox="1"/>
          <p:nvPr/>
        </p:nvSpPr>
        <p:spPr>
          <a:xfrm>
            <a:off x="1549400" y="4254500"/>
            <a:ext cx="4191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A2433"/>
                </a:solidFill>
              </a:rPr>
              <a:t>Focus on Top Metros</a:t>
            </a:r>
          </a:p>
        </p:txBody>
      </p:sp>
      <p:sp>
        <p:nvSpPr>
          <p:cNvPr id="14" name="Head3">
            <a:extLst>
              <a:ext uri="{FF2B5EF4-FFF2-40B4-BE49-F238E27FC236}">
                <a16:creationId xmlns:a16="http://schemas.microsoft.com/office/drawing/2014/main" id="{C4EF0F7D-E1BF-BF4B-93B3-F85F7966FF18}"/>
              </a:ext>
            </a:extLst>
          </p:cNvPr>
          <p:cNvSpPr txBox="1"/>
          <p:nvPr/>
        </p:nvSpPr>
        <p:spPr>
          <a:xfrm>
            <a:off x="7010400" y="4254500"/>
            <a:ext cx="4191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A2433"/>
                </a:solidFill>
              </a:rPr>
              <a:t>Bundle Chargers with Phones</a:t>
            </a:r>
          </a:p>
        </p:txBody>
      </p:sp>
      <p:sp>
        <p:nvSpPr>
          <p:cNvPr id="15" name="Body0">
            <a:extLst>
              <a:ext uri="{FF2B5EF4-FFF2-40B4-BE49-F238E27FC236}">
                <a16:creationId xmlns:a16="http://schemas.microsoft.com/office/drawing/2014/main" id="{6D56EF53-C80A-6C49-86C7-6FD14C2E968D}"/>
              </a:ext>
            </a:extLst>
          </p:cNvPr>
          <p:cNvSpPr txBox="1"/>
          <p:nvPr/>
        </p:nvSpPr>
        <p:spPr>
          <a:xfrm>
            <a:off x="1016000" y="2692400"/>
            <a:ext cx="47244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3D4A5C"/>
                </a:solidFill>
              </a:rPr>
              <a:t>December revenue hit $4.6M — nearly 2.5x January. Plan inventory and staffing around the holiday surge.</a:t>
            </a:r>
          </a:p>
        </p:txBody>
      </p:sp>
      <p:sp>
        <p:nvSpPr>
          <p:cNvPr id="16" name="Body1">
            <a:extLst>
              <a:ext uri="{FF2B5EF4-FFF2-40B4-BE49-F238E27FC236}">
                <a16:creationId xmlns:a16="http://schemas.microsoft.com/office/drawing/2014/main" id="{BE724AD1-CB43-C748-BA11-A9DA190B768E}"/>
              </a:ext>
            </a:extLst>
          </p:cNvPr>
          <p:cNvSpPr txBox="1"/>
          <p:nvPr/>
        </p:nvSpPr>
        <p:spPr>
          <a:xfrm>
            <a:off x="6477000" y="2692400"/>
            <a:ext cx="47244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3D4A5C"/>
                </a:solidFill>
              </a:rPr>
              <a:t>Orders peak at 11am-12pm and 7pm. Time paid ads and promos to hit these windows.</a:t>
            </a:r>
          </a:p>
        </p:txBody>
      </p:sp>
      <p:sp>
        <p:nvSpPr>
          <p:cNvPr id="17" name="Body2">
            <a:extLst>
              <a:ext uri="{FF2B5EF4-FFF2-40B4-BE49-F238E27FC236}">
                <a16:creationId xmlns:a16="http://schemas.microsoft.com/office/drawing/2014/main" id="{70A5345D-6EDC-AD40-B24F-F1B76C1880F0}"/>
              </a:ext>
            </a:extLst>
          </p:cNvPr>
          <p:cNvSpPr txBox="1"/>
          <p:nvPr/>
        </p:nvSpPr>
        <p:spPr>
          <a:xfrm>
            <a:off x="1016000" y="4851400"/>
            <a:ext cx="47244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3D4A5C"/>
                </a:solidFill>
              </a:rPr>
              <a:t>San Francisco, LA, and NYC together drive over half of all revenue — prioritize these markets.</a:t>
            </a:r>
          </a:p>
        </p:txBody>
      </p:sp>
      <p:sp>
        <p:nvSpPr>
          <p:cNvPr id="18" name="Body3">
            <a:extLst>
              <a:ext uri="{FF2B5EF4-FFF2-40B4-BE49-F238E27FC236}">
                <a16:creationId xmlns:a16="http://schemas.microsoft.com/office/drawing/2014/main" id="{C820089E-3DB9-D34C-A66D-30C557991FB7}"/>
              </a:ext>
            </a:extLst>
          </p:cNvPr>
          <p:cNvSpPr txBox="1"/>
          <p:nvPr/>
        </p:nvSpPr>
        <p:spPr>
          <a:xfrm>
            <a:off x="6477000" y="4851400"/>
            <a:ext cx="47244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3D4A5C"/>
                </a:solidFill>
              </a:rPr>
              <a:t>Phone buyers reliably add a charging cable. Offer it as a one-click bundle at checkout.</a:t>
            </a:r>
          </a:p>
        </p:txBody>
      </p:sp>
      <p:sp>
        <p:nvSpPr>
          <p:cNvPr id="19" name="DashboardLink">
            <a:extLst>
              <a:ext uri="{FF2B5EF4-FFF2-40B4-BE49-F238E27FC236}">
                <a16:creationId xmlns:a16="http://schemas.microsoft.com/office/drawing/2014/main" id="{3D285500-2711-4B43-9870-1902092B1A65}"/>
              </a:ext>
            </a:extLst>
          </p:cNvPr>
          <p:cNvSpPr txBox="1"/>
          <p:nvPr/>
        </p:nvSpPr>
        <p:spPr>
          <a:xfrm>
            <a:off x="838200" y="6286500"/>
            <a:ext cx="105156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3D4A5C"/>
                </a:solidFill>
              </a:rPr>
              <a:t>Explore the live, filterable dashboard: </a:t>
            </a:r>
            <a:r>
              <a:rPr lang="en-US" sz="1400" b="1" dirty="0">
                <a:solidFill>
                  <a:srgbClr val="2563EB"/>
                </a:solidFill>
              </a:rPr>
              <a:t>sales-data-</a:t>
            </a:r>
            <a:r>
              <a:rPr lang="en-US" sz="1400" b="1" dirty="0" err="1">
                <a:solidFill>
                  <a:srgbClr val="2563EB"/>
                </a:solidFill>
              </a:rPr>
              <a:t>vis.treamlit.app</a:t>
            </a:r>
            <a:endParaRPr lang="en-US" sz="1400" b="1" dirty="0">
              <a:solidFill>
                <a:srgbClr val="2563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279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3556195675]">
  <a:themeElements>
    <a:clrScheme name="Office">
      <a:dk1>
        <a:srgbClr val="1A2433"/>
      </a:dk1>
      <a:lt1>
        <a:srgbClr val="FFFFFF"/>
      </a:lt1>
      <a:dk2>
        <a:srgbClr val="3D4A5C"/>
      </a:dk2>
      <a:lt2>
        <a:srgbClr val="F4F6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8B5CF6"/>
      </a:accent5>
      <a:accent6>
        <a:srgbClr val="EF4444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29F2EC10-8E31-154F-B63E-4C53AF51AAF1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6c11221d-5cdd-4da3-ba48-6a1b1c812f9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F45711F-9B61-7A4B-AC20-85F704011D06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6a106115-b588-4261-9e4e-a2698ec1663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1299</TotalTime>
  <Words>326</Words>
  <Application>Microsoft Macintosh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Segoe UI</vt:lpstr>
      <vt:lpstr>Segoe UI Semibold</vt:lpstr>
      <vt:lpstr>Office Theme [1783556195675]</vt:lpstr>
      <vt:lpstr>Sales Analytics: Insights from 178,000 Orders</vt:lpstr>
      <vt:lpstr>The Big Picture</vt:lpstr>
      <vt:lpstr>December Is King</vt:lpstr>
      <vt:lpstr>The Best Time to Advertise</vt:lpstr>
      <vt:lpstr>Where the Money Is</vt:lpstr>
      <vt:lpstr>What Sells: Volume vs. Value</vt:lpstr>
      <vt:lpstr>What Gets Bought Together</vt:lpstr>
      <vt:lpstr>What This Means for the Business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Rahela Jawadi</dc:creator>
  <cp:lastModifiedBy>Rahela Jawadi</cp:lastModifiedBy>
  <cp:revision>5</cp:revision>
  <dcterms:created xsi:type="dcterms:W3CDTF">2026-07-08T02:41:48Z</dcterms:created>
  <dcterms:modified xsi:type="dcterms:W3CDTF">2026-07-09T00:21:09Z</dcterms:modified>
</cp:coreProperties>
</file>